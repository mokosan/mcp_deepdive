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212121"/>
                </a:solidFill>
              </a:defRPr>
            </a:pPr>
            <a:r>
              <a:t>Model Context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749039"/>
            <a:ext cx="1828800" cy="381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E9E9E"/>
                </a:solidFill>
              </a:defRPr>
            </a:pPr>
            <a:r>
              <a:t>Advanced Topics for C# Developers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</a:defRPr>
            </a:pPr>
            <a:r>
              <a:t>What is MCP?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Open standard for AI-to-application integration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Enables secure connections to external data sources and tools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Standardized protocol for AI assistants to interact with services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Maintains security boundaries while enabling rich functionality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Supported by Claude Desktop, IDEs, and custom clients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D46B35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Core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MCP Architecture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E9E9E"/>
                </a:solidFill>
              </a:defRPr>
            </a:pPr>
            <a:r>
              <a:t>AI application that consumes MCP services (Claude Desktop, IDE plugins)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68880"/>
            <a:ext cx="411480" cy="411480"/>
          </a:xfrm>
          <a:prstGeom prst="ellipse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34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E9E9E"/>
                </a:solidFill>
              </a:defRPr>
            </a:pPr>
            <a:r>
              <a:t>Your service that exposes capabilities via the MCP protocol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204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74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Transport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E9E9E"/>
                </a:solidFill>
              </a:defRPr>
            </a:pPr>
            <a:r>
              <a:t>Communication channel between client and server (STDIO, SSE, HTTP)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480560"/>
            <a:ext cx="411480" cy="411480"/>
          </a:xfrm>
          <a:prstGeom prst="ellipse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2628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05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Protocol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46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E9E9E"/>
                </a:solidFill>
              </a:defRPr>
            </a:pPr>
            <a:r>
              <a:t>JSON-RPC 2.0 message format for structured communication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The Three Pillars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630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E9E9E"/>
                </a:solidFill>
              </a:defRPr>
            </a:pPr>
            <a:r>
              <a:t>Executable functions the AI can invoke — file operations, API calls, commands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68880"/>
            <a:ext cx="411480" cy="411480"/>
          </a:xfrm>
          <a:prstGeom prst="ellipse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6888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34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E9E9E"/>
                </a:solidFill>
              </a:defRPr>
            </a:pPr>
            <a:r>
              <a:t>Reusable templates for AI interactions — code review, documentation patterns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474720"/>
            <a:ext cx="411480" cy="411480"/>
          </a:xfrm>
          <a:prstGeom prst="ellipse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2044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474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</a:defRPr>
            </a:pPr>
            <a:r>
              <a:t>Resources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E9E9E"/>
                </a:solidFill>
              </a:defRPr>
            </a:pPr>
            <a:r>
              <a:t>Structured data access points — configuration, system info, reference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D46B35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Advanced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E9E9E"/>
                </a:solidFill>
              </a:defRPr>
            </a:pPr>
            <a:r>
              <a:t>Server requests LLM completions from the connected client, shifting AI costs to client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7772400" cy="2194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var result = await mcpContext.SendSamplingRequestAsync(</a:t>
            </a:r>
            <a:br/>
            <a:r>
              <a:t>    $"Summarize this content:\n{fileContent}",</a:t>
            </a:r>
            <a:br/>
            <a:r>
              <a:t>    cancellationToken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Enables sophisticated analysis without server-side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Client controls model selection and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Reduces server complexity and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Roots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E9E9E"/>
                </a:solidFill>
              </a:defRPr>
            </a:pPr>
            <a:r>
              <a:t>Security boundaries that control file system access through approved directory paths.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7772400" cy="2194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var approvedRoots = new[] {</a:t>
            </a:r>
            <a:br/>
            <a:r>
              <a:t>    Environment.GetFolderPath(SpecialFolder.MyDocuments),</a:t>
            </a:r>
            <a:br/>
            <a:r>
              <a:t>    Path.GetTempPath()</a:t>
            </a:r>
            <a:br/>
            <a:r>
              <a:t>};</a:t>
            </a:r>
            <a:br/>
            <a:br/>
            <a:r>
              <a:t>bool isValid = IsPathWithinRoots(requestedPath);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Prevents unauthorized access outside designated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User-configurable permission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Essential for production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Progress Notifications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E9E9E"/>
                </a:solidFill>
              </a:defRPr>
            </a:pPr>
            <a:r>
              <a:t>Real-time updates for long-running operations, enabling responsive client UIs.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7772400" cy="2194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await mcpContext.SendProgressNotification(</a:t>
            </a:r>
            <a:br/>
            <a:r>
              <a:t>    progressToken,</a:t>
            </a:r>
            <a:br/>
            <a:r>
              <a:t>    progress: currentStep,</a:t>
            </a:r>
            <a:br/>
            <a:r>
              <a:t>    total: totalSteps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Enables client-side progress bars and status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Uses progressToken from client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Recommended for operations exceeding 1 second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Structured Logging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E9E9E"/>
                </a:solidFill>
              </a:defRPr>
            </a:pPr>
            <a:r>
              <a:t>Multi-level diagnostic logging that sends information to connected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7772400" cy="2194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await mcpContext.SendLogNotification(</a:t>
            </a:r>
            <a:br/>
            <a:r>
              <a:t>    LoggingLevel.Info,</a:t>
            </a:r>
            <a:br/>
            <a:r>
              <a:t>    logger: "FileSearch",</a:t>
            </a:r>
            <a:br/>
            <a:r>
              <a:t>    data: $"Found {matches.Count} files"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Supports Debug, Info, Warning, and Error levels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Integrates with Microsoft.Extensions.Logging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Enables client-side debugging 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D46B35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Transport Mechanisms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Transport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STDIO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SSE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HTTP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Local / Desktop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Web Applications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REST APIs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Bidirectional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Server → Client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Request / Response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Sampling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Full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Configurable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Scaling Model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Single Process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Stateful Sessions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Horizontal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Setup Complexity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Simple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Higher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</a:defRPr>
            </a:pPr>
            <a:r>
              <a:t>STDIO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JSON-RPC 2.0 messages over stdin/stdout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Client spawns server as a child process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Full bidirectional communication support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Ideal for local development and CLI tools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Simple setup with no network configuration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D46B35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Message Patterns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MCP Message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46B35"/>
                </a:solidFill>
              </a:defRPr>
            </a:pPr>
            <a:r>
              <a:t>Request /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Expects a return value</a:t>
            </a:r>
          </a:p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tools/call — execute tool</a:t>
            </a:r>
          </a:p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prompts/get — retrieve prompt</a:t>
            </a:r>
          </a:p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resources/read — read data</a:t>
            </a:r>
          </a:p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Synchronous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D5A7B"/>
                </a:solidFill>
              </a:defRPr>
            </a:pPr>
            <a:r>
              <a:t>Notifications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Fire-and-forget messages</a:t>
            </a:r>
          </a:p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notifications/progress</a:t>
            </a:r>
          </a:p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notifications/message</a:t>
            </a:r>
          </a:p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No response expected</a:t>
            </a:r>
          </a:p>
          <a:p>
            <a:pPr>
              <a:spcBef>
                <a:spcPts val="1000"/>
              </a:spcBef>
              <a:defRPr sz="1700">
                <a:solidFill>
                  <a:srgbClr val="424242"/>
                </a:solidFill>
              </a:defRPr>
            </a:pPr>
            <a:r>
              <a:t>•  Asynchronous pattern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D46B35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Implementation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Program.cs — Entry point with dependency injection setup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McpServerContext.cs — MCP protocol interface bridge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Tools/ — MCP tool implementations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Prompts/ — Reusable prompt templates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Resources/ — Structured data access layer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Demo Tools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6304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 Demonstrated</a:t>
                      </a:r>
                    </a:p>
                  </a:txBody>
                  <a:tcPr anchor="ctr">
                    <a:solidFill>
                      <a:srgbClr val="21212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analyze_large_file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File analysis with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Progress Notifications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read_file_secure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Secure file reading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Roots Security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ai_summarize_files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AI-powered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Sampling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search_files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Pattern-based search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Structured Logging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batch_process_files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Batch processing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424242"/>
                          </a:solidFill>
                        </a:defRPr>
                      </a:pPr>
                      <a:r>
                        <a:t>Combined Features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2121"/>
                </a:solidFill>
              </a:defRPr>
            </a:pPr>
            <a:r>
              <a:t>Claude Desktop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E9E9E"/>
                </a:solidFill>
              </a:defRPr>
            </a:pPr>
            <a:r>
              <a:t>Add your MCP server to the Claude Desktop configuration 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7772400" cy="2194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{</a:t>
            </a:r>
            <a:br/>
            <a:r>
              <a:t>  "mcpServers": {</a:t>
            </a:r>
            <a:br/>
            <a:r>
              <a:t>    "csharp-demo": {</a:t>
            </a:r>
            <a:br/>
            <a:r>
              <a:t>      "command": "dotnet",</a:t>
            </a:r>
            <a:br/>
            <a:r>
              <a:t>      "args": ["run", "--project", "path/to/CSharpMcpDemo.csproj"]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Server starts automatically on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Supports multiple server configurations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035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24242"/>
                </a:solidFill>
              </a:defRPr>
            </a:pPr>
            <a:r>
              <a:t>✓  Can also install as a global .NET tool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D46B35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</a:defRPr>
            </a:pPr>
            <a:r>
              <a:t>Security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Always validate paths against approved roots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Use CancellationToken for graceful operation control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Implement comprehensive error handling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Log security-relevant events for auditing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Never expose sensitive data in tool responses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</a:defRPr>
            </a:pPr>
            <a:r>
              <a:t>Performance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Use progress notifications for operations &gt; 1 second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Implement streaming for large data transfers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Cache frequently accessed resources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Use async/await patterns throughout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Batch related operations when possible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MCP standardizes AI-to-application integration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Tools, Prompts, and Resources are the core primitives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Sampling enables server-initiated AI calls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Roots provide essential security boundaries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STDIO transport is ideal for local and desktop scenarios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C# with .NET provides excellent MCP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212121"/>
                </a:solidFill>
              </a:defRPr>
            </a:pPr>
            <a: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MCP Specification — modelcontextprotocol.io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Anthropic MCP Course — anthropic.skilljar.com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NuGet Package — ModelContextProtocol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2000">
                <a:solidFill>
                  <a:srgbClr val="212121"/>
                </a:solidFill>
              </a:defRPr>
            </a:pPr>
            <a:r>
              <a:t>•  This Demo — GitHub repository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3749039"/>
            <a:ext cx="1371600" cy="38100"/>
          </a:xfrm>
          <a:prstGeom prst="rect">
            <a:avLst/>
          </a:prstGeom>
          <a:solidFill>
            <a:srgbClr val="D4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0233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9E9E9E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